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3"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565936-CAA9-4990-9DDF-411BD38A3E38}" v="3" dt="2026-09-10T15:40:27.9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mila Pathi" userId="22fa5d2fb3919319" providerId="LiveId" clId="{DEA589F7-6ED8-4D76-BE33-5B514CDF85C6}"/>
    <pc:docChg chg="undo custSel addSld delSld modSld sldOrd">
      <pc:chgData name="Sharmila Pathi" userId="22fa5d2fb3919319" providerId="LiveId" clId="{DEA589F7-6ED8-4D76-BE33-5B514CDF85C6}" dt="2026-09-15T03:28:51.273" v="131"/>
      <pc:docMkLst>
        <pc:docMk/>
      </pc:docMkLst>
      <pc:sldChg chg="modSp mod">
        <pc:chgData name="Sharmila Pathi" userId="22fa5d2fb3919319" providerId="LiveId" clId="{DEA589F7-6ED8-4D76-BE33-5B514CDF85C6}" dt="2026-09-10T15:37:25.021" v="8" actId="1076"/>
        <pc:sldMkLst>
          <pc:docMk/>
          <pc:sldMk cId="2268347605" sldId="256"/>
        </pc:sldMkLst>
        <pc:spChg chg="mod">
          <ac:chgData name="Sharmila Pathi" userId="22fa5d2fb3919319" providerId="LiveId" clId="{DEA589F7-6ED8-4D76-BE33-5B514CDF85C6}" dt="2026-09-10T15:37:25.021" v="8" actId="1076"/>
          <ac:spMkLst>
            <pc:docMk/>
            <pc:sldMk cId="2268347605" sldId="256"/>
            <ac:spMk id="6" creationId="{609F932C-CD93-5772-A768-506C4A79739F}"/>
          </ac:spMkLst>
        </pc:spChg>
        <pc:spChg chg="mod">
          <ac:chgData name="Sharmila Pathi" userId="22fa5d2fb3919319" providerId="LiveId" clId="{DEA589F7-6ED8-4D76-BE33-5B514CDF85C6}" dt="2026-09-09T09:29:22.729" v="4" actId="1076"/>
          <ac:spMkLst>
            <pc:docMk/>
            <pc:sldMk cId="2268347605" sldId="256"/>
            <ac:spMk id="8" creationId="{90D1E4B9-E4FA-34CF-40D0-29D3999FEB59}"/>
          </ac:spMkLst>
        </pc:spChg>
      </pc:sldChg>
      <pc:sldChg chg="addSp delSp modSp mod">
        <pc:chgData name="Sharmila Pathi" userId="22fa5d2fb3919319" providerId="LiveId" clId="{DEA589F7-6ED8-4D76-BE33-5B514CDF85C6}" dt="2026-09-10T15:55:02.935" v="117" actId="12"/>
        <pc:sldMkLst>
          <pc:docMk/>
          <pc:sldMk cId="1606726236" sldId="261"/>
        </pc:sldMkLst>
        <pc:spChg chg="add mod">
          <ac:chgData name="Sharmila Pathi" userId="22fa5d2fb3919319" providerId="LiveId" clId="{DEA589F7-6ED8-4D76-BE33-5B514CDF85C6}" dt="2026-09-10T15:40:48.647" v="56" actId="14100"/>
          <ac:spMkLst>
            <pc:docMk/>
            <pc:sldMk cId="1606726236" sldId="261"/>
            <ac:spMk id="2" creationId="{D436D586-B98D-80FF-53AF-9289F0C160D7}"/>
          </ac:spMkLst>
        </pc:spChg>
        <pc:spChg chg="add mod">
          <ac:chgData name="Sharmila Pathi" userId="22fa5d2fb3919319" providerId="LiveId" clId="{DEA589F7-6ED8-4D76-BE33-5B514CDF85C6}" dt="2026-09-10T15:55:02.935" v="117" actId="12"/>
          <ac:spMkLst>
            <pc:docMk/>
            <pc:sldMk cId="1606726236" sldId="261"/>
            <ac:spMk id="7" creationId="{53D98B39-1E6D-695C-097E-60F5A01911B7}"/>
          </ac:spMkLst>
        </pc:spChg>
      </pc:sldChg>
      <pc:sldChg chg="add">
        <pc:chgData name="Sharmila Pathi" userId="22fa5d2fb3919319" providerId="LiveId" clId="{DEA589F7-6ED8-4D76-BE33-5B514CDF85C6}" dt="2026-09-10T15:37:36.509" v="9" actId="2890"/>
        <pc:sldMkLst>
          <pc:docMk/>
          <pc:sldMk cId="244576389" sldId="262"/>
        </pc:sldMkLst>
      </pc:sldChg>
      <pc:sldChg chg="addSp delSp modSp add mod ord">
        <pc:chgData name="Sharmila Pathi" userId="22fa5d2fb3919319" providerId="LiveId" clId="{DEA589F7-6ED8-4D76-BE33-5B514CDF85C6}" dt="2026-09-15T03:28:51.273" v="131"/>
        <pc:sldMkLst>
          <pc:docMk/>
          <pc:sldMk cId="891453976" sldId="263"/>
        </pc:sldMkLst>
        <pc:spChg chg="add mod">
          <ac:chgData name="Sharmila Pathi" userId="22fa5d2fb3919319" providerId="LiveId" clId="{DEA589F7-6ED8-4D76-BE33-5B514CDF85C6}" dt="2026-09-10T15:40:03.903" v="33" actId="1076"/>
          <ac:spMkLst>
            <pc:docMk/>
            <pc:sldMk cId="891453976" sldId="263"/>
            <ac:spMk id="2" creationId="{A07B1CA2-329E-3C6F-96F9-14E964DB8506}"/>
          </ac:spMkLst>
        </pc:spChg>
        <pc:spChg chg="add mod">
          <ac:chgData name="Sharmila Pathi" userId="22fa5d2fb3919319" providerId="LiveId" clId="{DEA589F7-6ED8-4D76-BE33-5B514CDF85C6}" dt="2026-09-10T15:56:13.998" v="129" actId="1076"/>
          <ac:spMkLst>
            <pc:docMk/>
            <pc:sldMk cId="891453976" sldId="263"/>
            <ac:spMk id="7" creationId="{8CC1697D-1938-2B02-B8FE-B80F8383BC0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084C-ADAA-F0E3-C02C-5202A1F2DB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CD0342-1652-CA5F-C25E-86BB8EF60F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13A0A4-65C0-C902-E764-3C33E8ACB929}"/>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5" name="Footer Placeholder 4">
            <a:extLst>
              <a:ext uri="{FF2B5EF4-FFF2-40B4-BE49-F238E27FC236}">
                <a16:creationId xmlns:a16="http://schemas.microsoft.com/office/drawing/2014/main" id="{09917B42-A202-4987-FC7E-62D293352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74199-8F6D-7836-2F03-52567F5A2101}"/>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183066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CE5E-B1B0-EDCD-4CC7-B23D2DCC55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6E4DCA-F9BE-5A41-EDA5-E15B4E17F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6F4D70-04A4-8656-BAC2-0A5476CA378D}"/>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5" name="Footer Placeholder 4">
            <a:extLst>
              <a:ext uri="{FF2B5EF4-FFF2-40B4-BE49-F238E27FC236}">
                <a16:creationId xmlns:a16="http://schemas.microsoft.com/office/drawing/2014/main" id="{3F95665F-3011-B577-DBF7-145913EE0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6757C9-3536-B60E-7F6D-030C3D97043B}"/>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3724915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D6DA-0419-C87D-EE96-8CED8EE30B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B4F7AD-04DA-AAFF-3B24-46F8AEEA0D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9C1103-B988-0CE8-C3A7-506239CE0690}"/>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5" name="Footer Placeholder 4">
            <a:extLst>
              <a:ext uri="{FF2B5EF4-FFF2-40B4-BE49-F238E27FC236}">
                <a16:creationId xmlns:a16="http://schemas.microsoft.com/office/drawing/2014/main" id="{94997151-9402-BFFE-2283-7F82762CF3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E4D410-0601-7F1F-F688-1B8F3940C7E3}"/>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883518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92326-A841-C4FC-4D98-45FD39FC9F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434B2F-DBB7-85B4-81AF-6B095BCF2F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3DAE3B-B557-AA12-4230-07217E5AE5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BC6383-8966-266A-CF7E-CBA9C2342207}"/>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6" name="Footer Placeholder 5">
            <a:extLst>
              <a:ext uri="{FF2B5EF4-FFF2-40B4-BE49-F238E27FC236}">
                <a16:creationId xmlns:a16="http://schemas.microsoft.com/office/drawing/2014/main" id="{79F7418B-CD43-5796-90C7-4EFDB1687A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ECFB0-06B5-0858-6C78-67313D678D06}"/>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1837673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3F652-B4CC-6BD8-DD48-B97BC8428C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F11824-A0E6-30CC-1889-10E77533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5DA06E-AC59-C0AE-1343-B341F8725A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054451-326E-7DEC-9F04-9B1FBD273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8C93A7-9B44-A9E0-E092-67AD17A06C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11FE-D11C-CEF0-B0BB-E16BC830D80A}"/>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8" name="Footer Placeholder 7">
            <a:extLst>
              <a:ext uri="{FF2B5EF4-FFF2-40B4-BE49-F238E27FC236}">
                <a16:creationId xmlns:a16="http://schemas.microsoft.com/office/drawing/2014/main" id="{EACE8EB8-A517-AB6F-B8F6-4E4FED4DDD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92C3F4-55C3-0F12-5F44-7C8CFDA552CE}"/>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852694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CFCF-74D4-9F0A-70B8-91D7E6ADB8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491C83-78E1-9F33-5F4C-4ED094AB9974}"/>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4" name="Footer Placeholder 3">
            <a:extLst>
              <a:ext uri="{FF2B5EF4-FFF2-40B4-BE49-F238E27FC236}">
                <a16:creationId xmlns:a16="http://schemas.microsoft.com/office/drawing/2014/main" id="{6AF6B24A-D0E0-CCFD-CEA6-BDD54AEF6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963D89-26FD-CF5A-F0D0-3F22DF1FE488}"/>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547243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55220-63CA-DB3D-CDB4-B95E91925A01}"/>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3" name="Footer Placeholder 2">
            <a:extLst>
              <a:ext uri="{FF2B5EF4-FFF2-40B4-BE49-F238E27FC236}">
                <a16:creationId xmlns:a16="http://schemas.microsoft.com/office/drawing/2014/main" id="{9E69ADBE-7767-F4FD-1837-E9AFAE800E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9A20C0-6B0A-802F-2A6E-2EA08A44C58A}"/>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502411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6CF1-47BB-7508-E780-94A5D0F61C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E273F8-D43D-54AE-8DFD-1B842A4C9D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8D85B8-EBEA-0993-CD7D-C2139204CC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CB0AD-4206-CA4B-4FE3-0F42885FA4AD}"/>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6" name="Footer Placeholder 5">
            <a:extLst>
              <a:ext uri="{FF2B5EF4-FFF2-40B4-BE49-F238E27FC236}">
                <a16:creationId xmlns:a16="http://schemas.microsoft.com/office/drawing/2014/main" id="{F9A9B8D7-16C3-9D0A-26A6-C1554563EE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964DD-138F-A735-AAE2-D4B589F44E91}"/>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31401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AAE85-4B49-F523-1F17-D3E89EF5B8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3C77D-4EBB-1119-EB18-21C77E37A0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357B59-3943-BA1C-1B05-6C5963FC8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904E95-D3F5-FCE4-0E7E-4AF2D9727F99}"/>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6" name="Footer Placeholder 5">
            <a:extLst>
              <a:ext uri="{FF2B5EF4-FFF2-40B4-BE49-F238E27FC236}">
                <a16:creationId xmlns:a16="http://schemas.microsoft.com/office/drawing/2014/main" id="{FAA72835-54AC-84BF-E747-756F5E9B57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4CE2C-0FE4-976D-733D-FF66A39656C5}"/>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887640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FF20D-C841-3F8E-D1B6-376DF6C161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16BD54-0DB2-1F52-6FE8-8053900DEF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A441BF-CE37-4C8D-D818-9D19731A3837}"/>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5" name="Footer Placeholder 4">
            <a:extLst>
              <a:ext uri="{FF2B5EF4-FFF2-40B4-BE49-F238E27FC236}">
                <a16:creationId xmlns:a16="http://schemas.microsoft.com/office/drawing/2014/main" id="{85C84483-6841-1243-912B-F22D83444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DC5FF5-ACFF-F863-91B1-738F0DCFBC7E}"/>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27922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43E02-A374-6B08-F2A8-6C9B6F5204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BC52B1-CD44-4E80-85D7-68910F1DA1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C69EA-9419-30E2-1B24-561C1E366C01}"/>
              </a:ext>
            </a:extLst>
          </p:cNvPr>
          <p:cNvSpPr>
            <a:spLocks noGrp="1"/>
          </p:cNvSpPr>
          <p:nvPr>
            <p:ph type="dt" sz="half" idx="10"/>
          </p:nvPr>
        </p:nvSpPr>
        <p:spPr/>
        <p:txBody>
          <a:bodyPr/>
          <a:lstStyle/>
          <a:p>
            <a:fld id="{F3846D9B-AE7D-4236-B426-FA945E03F62F}" type="datetimeFigureOut">
              <a:rPr lang="en-US" smtClean="0"/>
              <a:t>9/15/2026</a:t>
            </a:fld>
            <a:endParaRPr lang="en-US"/>
          </a:p>
        </p:txBody>
      </p:sp>
      <p:sp>
        <p:nvSpPr>
          <p:cNvPr id="5" name="Footer Placeholder 4">
            <a:extLst>
              <a:ext uri="{FF2B5EF4-FFF2-40B4-BE49-F238E27FC236}">
                <a16:creationId xmlns:a16="http://schemas.microsoft.com/office/drawing/2014/main" id="{DD8F2253-0690-08F5-D121-6BE5CB0C5A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8853A-6F6C-3DAF-B560-CC542AEBC11D}"/>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3767727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4D55A8-FC5C-1FFE-B493-B42C637C3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72D3CB-518C-F3A9-A3CA-798BC62E7A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42B15-AE54-948D-9AC5-43091B9487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846D9B-AE7D-4236-B426-FA945E03F62F}" type="datetimeFigureOut">
              <a:rPr lang="en-US" smtClean="0"/>
              <a:t>9/15/2026</a:t>
            </a:fld>
            <a:endParaRPr lang="en-US"/>
          </a:p>
        </p:txBody>
      </p:sp>
      <p:sp>
        <p:nvSpPr>
          <p:cNvPr id="5" name="Footer Placeholder 4">
            <a:extLst>
              <a:ext uri="{FF2B5EF4-FFF2-40B4-BE49-F238E27FC236}">
                <a16:creationId xmlns:a16="http://schemas.microsoft.com/office/drawing/2014/main" id="{45ED6A78-B7F7-CD62-D0DF-79C2411B1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9C1EF-D5E1-2CFE-BAE5-4346D5D43C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30E7E-47F8-4F26-92D3-10036EE5F348}" type="slidenum">
              <a:rPr lang="en-US" smtClean="0"/>
              <a:t>‹#›</a:t>
            </a:fld>
            <a:endParaRPr lang="en-US"/>
          </a:p>
        </p:txBody>
      </p:sp>
    </p:spTree>
    <p:extLst>
      <p:ext uri="{BB962C8B-B14F-4D97-AF65-F5344CB8AC3E}">
        <p14:creationId xmlns:p14="http://schemas.microsoft.com/office/powerpoint/2010/main" val="1624071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link.springer.com/article/10.1007/s00521-024-10226-x" TargetMode="External"/><Relationship Id="rId7" Type="http://schemas.openxmlformats.org/officeDocument/2006/relationships/hyperlink" Target="https://link.springer.com/article/10.1186/s42397-024-00208-8" TargetMode="Externa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hyperlink" Target="https://link.springer.com/article/10.1007/s11540-024-09753-w" TargetMode="External"/><Relationship Id="rId5" Type="http://schemas.openxmlformats.org/officeDocument/2006/relationships/hyperlink" Target="https://ieeexplore.ieee.org/document/10471549/" TargetMode="External"/><Relationship Id="rId4" Type="http://schemas.openxmlformats.org/officeDocument/2006/relationships/hyperlink" Target="https://link.springer.com/article/10.1007/s43621-024-00254-x"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85E238-33FB-827F-80F8-75F5DB0E8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6" name="TextBox 5">
            <a:extLst>
              <a:ext uri="{FF2B5EF4-FFF2-40B4-BE49-F238E27FC236}">
                <a16:creationId xmlns:a16="http://schemas.microsoft.com/office/drawing/2014/main" id="{609F932C-CD93-5772-A768-506C4A79739F}"/>
              </a:ext>
            </a:extLst>
          </p:cNvPr>
          <p:cNvSpPr txBox="1"/>
          <p:nvPr/>
        </p:nvSpPr>
        <p:spPr>
          <a:xfrm>
            <a:off x="1582991" y="1612735"/>
            <a:ext cx="9026012" cy="584775"/>
          </a:xfrm>
          <a:prstGeom prst="rect">
            <a:avLst/>
          </a:prstGeom>
          <a:noFill/>
        </p:spPr>
        <p:txBody>
          <a:bodyPr wrap="square">
            <a:spAutoFit/>
          </a:bodyPr>
          <a:lstStyle/>
          <a:p>
            <a:pPr marL="1270" marR="0" algn="ctr">
              <a:lnSpc>
                <a:spcPct val="100000"/>
              </a:lnSpc>
              <a:buNone/>
            </a:pPr>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 HarvestIQ – Data-Driven Crop Yield Prediction</a:t>
            </a:r>
            <a:endParaRPr lang="en-US"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0D1E4B9-E4FA-34CF-40D0-29D3999FEB59}"/>
              </a:ext>
            </a:extLst>
          </p:cNvPr>
          <p:cNvSpPr txBox="1"/>
          <p:nvPr/>
        </p:nvSpPr>
        <p:spPr>
          <a:xfrm>
            <a:off x="4616243" y="2607697"/>
            <a:ext cx="2959509" cy="1015663"/>
          </a:xfrm>
          <a:prstGeom prst="rect">
            <a:avLst/>
          </a:prstGeom>
          <a:noFill/>
        </p:spPr>
        <p:txBody>
          <a:bodyPr wrap="square">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Under the Guidance</a:t>
            </a:r>
          </a:p>
          <a:p>
            <a:pPr algn="ctr"/>
            <a:r>
              <a:rPr lang="en-US" sz="2000" b="1" dirty="0">
                <a:solidFill>
                  <a:srgbClr val="FF0000"/>
                </a:solidFill>
                <a:latin typeface="Times New Roman" panose="02020603050405020304" pitchFamily="18" charset="0"/>
                <a:cs typeface="Times New Roman" panose="02020603050405020304" pitchFamily="18" charset="0"/>
              </a:rPr>
              <a:t>Of </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Dr. N Sunanda</a:t>
            </a:r>
          </a:p>
        </p:txBody>
      </p:sp>
      <p:sp>
        <p:nvSpPr>
          <p:cNvPr id="9" name="TextBox 8">
            <a:extLst>
              <a:ext uri="{FF2B5EF4-FFF2-40B4-BE49-F238E27FC236}">
                <a16:creationId xmlns:a16="http://schemas.microsoft.com/office/drawing/2014/main" id="{CCF34762-6381-53CE-77DB-79C413858162}"/>
              </a:ext>
            </a:extLst>
          </p:cNvPr>
          <p:cNvSpPr txBox="1"/>
          <p:nvPr/>
        </p:nvSpPr>
        <p:spPr>
          <a:xfrm>
            <a:off x="700682" y="4660490"/>
            <a:ext cx="4028634"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Team Members </a:t>
            </a:r>
          </a:p>
          <a:p>
            <a:r>
              <a:rPr lang="en-US" sz="2000" dirty="0">
                <a:latin typeface="Times New Roman" panose="02020603050405020304" pitchFamily="18" charset="0"/>
                <a:cs typeface="Times New Roman" panose="02020603050405020304" pitchFamily="18" charset="0"/>
              </a:rPr>
              <a:t>2420030042 – Pathi Sharmila</a:t>
            </a:r>
          </a:p>
          <a:p>
            <a:r>
              <a:rPr lang="en-US" sz="2000" dirty="0">
                <a:latin typeface="Times New Roman" panose="02020603050405020304" pitchFamily="18" charset="0"/>
                <a:cs typeface="Times New Roman" panose="02020603050405020304" pitchFamily="18" charset="0"/>
              </a:rPr>
              <a:t>2420030225 – Sanivarapu Sadhana</a:t>
            </a:r>
          </a:p>
          <a:p>
            <a:r>
              <a:rPr lang="en-US" sz="2000" dirty="0">
                <a:latin typeface="Times New Roman" panose="02020603050405020304" pitchFamily="18" charset="0"/>
                <a:cs typeface="Times New Roman" panose="02020603050405020304" pitchFamily="18" charset="0"/>
              </a:rPr>
              <a:t>2420030336 – M. Pavani Sree</a:t>
            </a:r>
          </a:p>
        </p:txBody>
      </p:sp>
    </p:spTree>
    <p:extLst>
      <p:ext uri="{BB962C8B-B14F-4D97-AF65-F5344CB8AC3E}">
        <p14:creationId xmlns:p14="http://schemas.microsoft.com/office/powerpoint/2010/main" val="2268347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0FBA-F6C6-2176-E0AC-CA744FFD01A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E666B87-1BD1-2688-4B32-429A12D18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3" name="TextBox 2">
            <a:extLst>
              <a:ext uri="{FF2B5EF4-FFF2-40B4-BE49-F238E27FC236}">
                <a16:creationId xmlns:a16="http://schemas.microsoft.com/office/drawing/2014/main" id="{9BDCE8C2-66D3-6738-8F24-0BDC68349380}"/>
              </a:ext>
            </a:extLst>
          </p:cNvPr>
          <p:cNvSpPr txBox="1"/>
          <p:nvPr/>
        </p:nvSpPr>
        <p:spPr>
          <a:xfrm>
            <a:off x="4281948" y="1039599"/>
            <a:ext cx="4085303"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32657EB6-7FB6-EF26-5440-3E9222E17D3F}"/>
              </a:ext>
            </a:extLst>
          </p:cNvPr>
          <p:cNvSpPr txBox="1"/>
          <p:nvPr/>
        </p:nvSpPr>
        <p:spPr>
          <a:xfrm>
            <a:off x="1710813" y="1882310"/>
            <a:ext cx="8770374" cy="3268652"/>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Agricultural crop yield is influenced by factors such as rainfall, temperature, soil conditions, fertilizer usage, and crop type, making accurate yield estimation difficult. Existing solutions use statistical and machine learning techniques, but many depend on complex models or multiple data sources. Therefore, there is a need for a simple and reliable machine learning system that uses key agricultural and environmental factors to predict crop yield accurately and support data-driven agricultural planning.</a:t>
            </a:r>
          </a:p>
        </p:txBody>
      </p:sp>
    </p:spTree>
    <p:extLst>
      <p:ext uri="{BB962C8B-B14F-4D97-AF65-F5344CB8AC3E}">
        <p14:creationId xmlns:p14="http://schemas.microsoft.com/office/powerpoint/2010/main" val="30442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2795-6030-5384-A282-486ACCED7B8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317D22-1DA5-2CA0-9C95-5E809E1AB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2" name="TextBox 1">
            <a:extLst>
              <a:ext uri="{FF2B5EF4-FFF2-40B4-BE49-F238E27FC236}">
                <a16:creationId xmlns:a16="http://schemas.microsoft.com/office/drawing/2014/main" id="{83A60C62-44E1-61CA-EBE9-477A6F674855}"/>
              </a:ext>
            </a:extLst>
          </p:cNvPr>
          <p:cNvSpPr txBox="1"/>
          <p:nvPr/>
        </p:nvSpPr>
        <p:spPr>
          <a:xfrm>
            <a:off x="5142271" y="766915"/>
            <a:ext cx="334296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B93F4A75-BA74-A1AA-EEB1-11E2F0F2C41D}"/>
              </a:ext>
            </a:extLst>
          </p:cNvPr>
          <p:cNvSpPr txBox="1"/>
          <p:nvPr/>
        </p:nvSpPr>
        <p:spPr>
          <a:xfrm>
            <a:off x="1759974" y="1578893"/>
            <a:ext cx="8672052" cy="419755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preprocess and analyze</a:t>
            </a:r>
            <a:r>
              <a:rPr lang="en-US" dirty="0">
                <a:latin typeface="Times New Roman" panose="02020603050405020304" pitchFamily="18" charset="0"/>
                <a:cs typeface="Times New Roman" panose="02020603050405020304" pitchFamily="18" charset="0"/>
              </a:rPr>
              <a:t> agricultural and environmental data relevant to crop yield prediction.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identify and select the most influential features</a:t>
            </a:r>
            <a:r>
              <a:rPr lang="en-US" dirty="0">
                <a:latin typeface="Times New Roman" panose="02020603050405020304" pitchFamily="18" charset="0"/>
                <a:cs typeface="Times New Roman" panose="02020603050405020304" pitchFamily="18" charset="0"/>
              </a:rPr>
              <a:t> affecting crop yield through exploratory data analysis and feature selection techniques.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develop and compare machine learning regression models</a:t>
            </a:r>
            <a:r>
              <a:rPr lang="en-US" dirty="0">
                <a:latin typeface="Times New Roman" panose="02020603050405020304" pitchFamily="18" charset="0"/>
                <a:cs typeface="Times New Roman" panose="02020603050405020304" pitchFamily="18" charset="0"/>
              </a:rPr>
              <a:t> for accurate crop yield prediction.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evaluate and select the best-performing model</a:t>
            </a:r>
            <a:r>
              <a:rPr lang="en-US" dirty="0">
                <a:latin typeface="Times New Roman" panose="02020603050405020304" pitchFamily="18" charset="0"/>
                <a:cs typeface="Times New Roman" panose="02020603050405020304" pitchFamily="18" charset="0"/>
              </a:rPr>
              <a:t> using appropriate performance metrics such as MAE, RMSE, and R².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develop a simple and user-friendly dashboard</a:t>
            </a:r>
            <a:r>
              <a:rPr lang="en-US" dirty="0">
                <a:latin typeface="Times New Roman" panose="02020603050405020304" pitchFamily="18" charset="0"/>
                <a:cs typeface="Times New Roman" panose="02020603050405020304" pitchFamily="18" charset="0"/>
              </a:rPr>
              <a:t> for crop yield prediction and visualization of important agricultural insights.</a:t>
            </a:r>
          </a:p>
        </p:txBody>
      </p:sp>
    </p:spTree>
    <p:extLst>
      <p:ext uri="{BB962C8B-B14F-4D97-AF65-F5344CB8AC3E}">
        <p14:creationId xmlns:p14="http://schemas.microsoft.com/office/powerpoint/2010/main" val="3243355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F65BD-9400-E3F6-DC5C-A3EAD009013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BEC34AB-9B57-4B21-4FD4-EB8F6421C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504335" cy="754005"/>
          </a:xfrm>
          <a:prstGeom prst="rect">
            <a:avLst/>
          </a:prstGeom>
          <a:noFill/>
          <a:ln>
            <a:noFill/>
          </a:ln>
        </p:spPr>
      </p:pic>
      <p:sp>
        <p:nvSpPr>
          <p:cNvPr id="2" name="TextBox 1">
            <a:extLst>
              <a:ext uri="{FF2B5EF4-FFF2-40B4-BE49-F238E27FC236}">
                <a16:creationId xmlns:a16="http://schemas.microsoft.com/office/drawing/2014/main" id="{FDA124A5-C92C-B59A-9CEB-B22301586719}"/>
              </a:ext>
            </a:extLst>
          </p:cNvPr>
          <p:cNvSpPr txBox="1"/>
          <p:nvPr/>
        </p:nvSpPr>
        <p:spPr>
          <a:xfrm>
            <a:off x="4463845" y="164674"/>
            <a:ext cx="378541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840AFE3A-EEA4-F09D-0248-B90E8B116F01}"/>
              </a:ext>
            </a:extLst>
          </p:cNvPr>
          <p:cNvGraphicFramePr>
            <a:graphicFrameLocks noGrp="1"/>
          </p:cNvGraphicFramePr>
          <p:nvPr>
            <p:extLst>
              <p:ext uri="{D42A27DB-BD31-4B8C-83A1-F6EECF244321}">
                <p14:modId xmlns:p14="http://schemas.microsoft.com/office/powerpoint/2010/main" val="1018545760"/>
              </p:ext>
            </p:extLst>
          </p:nvPr>
        </p:nvGraphicFramePr>
        <p:xfrm>
          <a:off x="368709" y="687894"/>
          <a:ext cx="11454581" cy="5919607"/>
        </p:xfrm>
        <a:graphic>
          <a:graphicData uri="http://schemas.openxmlformats.org/drawingml/2006/table">
            <a:tbl>
              <a:tblPr>
                <a:tableStyleId>{ED083AE6-46FA-4A59-8FB0-9F97EB10719F}</a:tableStyleId>
              </a:tblPr>
              <a:tblGrid>
                <a:gridCol w="390372">
                  <a:extLst>
                    <a:ext uri="{9D8B030D-6E8A-4147-A177-3AD203B41FA5}">
                      <a16:colId xmlns:a16="http://schemas.microsoft.com/office/drawing/2014/main" val="806743596"/>
                    </a:ext>
                  </a:extLst>
                </a:gridCol>
                <a:gridCol w="2480648">
                  <a:extLst>
                    <a:ext uri="{9D8B030D-6E8A-4147-A177-3AD203B41FA5}">
                      <a16:colId xmlns:a16="http://schemas.microsoft.com/office/drawing/2014/main" val="3461643017"/>
                    </a:ext>
                  </a:extLst>
                </a:gridCol>
                <a:gridCol w="1612491">
                  <a:extLst>
                    <a:ext uri="{9D8B030D-6E8A-4147-A177-3AD203B41FA5}">
                      <a16:colId xmlns:a16="http://schemas.microsoft.com/office/drawing/2014/main" val="2800733623"/>
                    </a:ext>
                  </a:extLst>
                </a:gridCol>
                <a:gridCol w="2605548">
                  <a:extLst>
                    <a:ext uri="{9D8B030D-6E8A-4147-A177-3AD203B41FA5}">
                      <a16:colId xmlns:a16="http://schemas.microsoft.com/office/drawing/2014/main" val="531295302"/>
                    </a:ext>
                  </a:extLst>
                </a:gridCol>
                <a:gridCol w="2456426">
                  <a:extLst>
                    <a:ext uri="{9D8B030D-6E8A-4147-A177-3AD203B41FA5}">
                      <a16:colId xmlns:a16="http://schemas.microsoft.com/office/drawing/2014/main" val="524893408"/>
                    </a:ext>
                  </a:extLst>
                </a:gridCol>
                <a:gridCol w="1909096">
                  <a:extLst>
                    <a:ext uri="{9D8B030D-6E8A-4147-A177-3AD203B41FA5}">
                      <a16:colId xmlns:a16="http://schemas.microsoft.com/office/drawing/2014/main" val="651009165"/>
                    </a:ext>
                  </a:extLst>
                </a:gridCol>
              </a:tblGrid>
              <a:tr h="533781">
                <a:tc>
                  <a:txBody>
                    <a:bodyPr/>
                    <a:lstStyle/>
                    <a:p>
                      <a:pPr algn="ctr">
                        <a:buNone/>
                      </a:pPr>
                      <a:r>
                        <a:rPr lang="en-US" sz="1200" b="1" dirty="0">
                          <a:latin typeface="Times New Roman" panose="02020603050405020304" pitchFamily="18" charset="0"/>
                          <a:cs typeface="Times New Roman" panose="02020603050405020304" pitchFamily="18" charset="0"/>
                        </a:rPr>
                        <a:t>No.</a:t>
                      </a:r>
                    </a:p>
                  </a:txBody>
                  <a:tcPr marL="27893" marR="27893" marT="13947" marB="13947"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Paper / Year</a:t>
                      </a:r>
                    </a:p>
                  </a:txBody>
                  <a:tcPr marL="27893" marR="27893" marT="13947" marB="13947" anchor="ctr">
                    <a:solidFill>
                      <a:schemeClr val="accent4">
                        <a:lumMod val="60000"/>
                        <a:lumOff val="40000"/>
                      </a:schemeClr>
                    </a:solidFill>
                  </a:tcPr>
                </a:tc>
                <a:tc>
                  <a:txBody>
                    <a:bodyPr/>
                    <a:lstStyle/>
                    <a:p>
                      <a:pPr algn="ctr">
                        <a:buNone/>
                      </a:pPr>
                      <a:r>
                        <a:rPr lang="en-US" sz="1200" b="1">
                          <a:latin typeface="Times New Roman" panose="02020603050405020304" pitchFamily="18" charset="0"/>
                          <a:cs typeface="Times New Roman" panose="02020603050405020304" pitchFamily="18" charset="0"/>
                        </a:rPr>
                        <a:t>Authors</a:t>
                      </a:r>
                    </a:p>
                  </a:txBody>
                  <a:tcPr marL="27893" marR="27893" marT="13947" marB="13947" anchor="ctr">
                    <a:solidFill>
                      <a:schemeClr val="accent4">
                        <a:lumMod val="60000"/>
                        <a:lumOff val="40000"/>
                      </a:schemeClr>
                    </a:solidFill>
                  </a:tcPr>
                </a:tc>
                <a:tc>
                  <a:txBody>
                    <a:bodyPr/>
                    <a:lstStyle/>
                    <a:p>
                      <a:pPr algn="ctr">
                        <a:buNone/>
                      </a:pPr>
                      <a:r>
                        <a:rPr lang="en-US" sz="1200" b="1">
                          <a:latin typeface="Times New Roman" panose="02020603050405020304" pitchFamily="18" charset="0"/>
                          <a:cs typeface="Times New Roman" panose="02020603050405020304" pitchFamily="18" charset="0"/>
                        </a:rPr>
                        <a:t>Drawbacks / Limitations</a:t>
                      </a:r>
                    </a:p>
                  </a:txBody>
                  <a:tcPr marL="27893" marR="27893" marT="13947" marB="13947" anchor="ctr">
                    <a:solidFill>
                      <a:schemeClr val="accent4">
                        <a:lumMod val="60000"/>
                        <a:lumOff val="40000"/>
                      </a:schemeClr>
                    </a:solidFill>
                  </a:tcPr>
                </a:tc>
                <a:tc>
                  <a:txBody>
                    <a:bodyPr/>
                    <a:lstStyle/>
                    <a:p>
                      <a:pPr algn="ctr">
                        <a:buNone/>
                      </a:pPr>
                      <a:r>
                        <a:rPr lang="en-US" sz="1200" b="1">
                          <a:latin typeface="Times New Roman" panose="02020603050405020304" pitchFamily="18" charset="0"/>
                          <a:cs typeface="Times New Roman" panose="02020603050405020304" pitchFamily="18" charset="0"/>
                        </a:rPr>
                        <a:t>Gap Addressed by Our Project</a:t>
                      </a:r>
                    </a:p>
                  </a:txBody>
                  <a:tcPr marL="27893" marR="27893" marT="13947" marB="13947"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Link</a:t>
                      </a:r>
                    </a:p>
                  </a:txBody>
                  <a:tcPr marL="27893" marR="27893" marT="13947" marB="13947" anchor="ctr">
                    <a:solidFill>
                      <a:schemeClr val="accent4">
                        <a:lumMod val="60000"/>
                        <a:lumOff val="40000"/>
                      </a:schemeClr>
                    </a:solidFill>
                  </a:tcPr>
                </a:tc>
                <a:extLst>
                  <a:ext uri="{0D108BD9-81ED-4DB2-BD59-A6C34878D82A}">
                    <a16:rowId xmlns:a16="http://schemas.microsoft.com/office/drawing/2014/main" val="2602298605"/>
                  </a:ext>
                </a:extLst>
              </a:tr>
              <a:tr h="953939">
                <a:tc>
                  <a:txBody>
                    <a:bodyPr/>
                    <a:lstStyle/>
                    <a:p>
                      <a:pPr algn="ctr">
                        <a:buNone/>
                      </a:pPr>
                      <a:r>
                        <a:rPr lang="en-US" sz="1200" b="1" dirty="0">
                          <a:latin typeface="Times New Roman" panose="02020603050405020304" pitchFamily="18" charset="0"/>
                          <a:cs typeface="Times New Roman" panose="02020603050405020304" pitchFamily="18" charset="0"/>
                        </a:rPr>
                        <a:t>1</a:t>
                      </a:r>
                    </a:p>
                  </a:txBody>
                  <a:tcPr marL="27893" marR="27893" marT="13947" marB="13947" anchor="ctr"/>
                </a:tc>
                <a:tc>
                  <a:txBody>
                    <a:bodyPr/>
                    <a:lstStyle/>
                    <a:p>
                      <a:pPr algn="l">
                        <a:buNone/>
                      </a:pPr>
                      <a:r>
                        <a:rPr lang="en-US" sz="1200">
                          <a:latin typeface="Times New Roman" panose="02020603050405020304" pitchFamily="18" charset="0"/>
                          <a:cs typeface="Times New Roman" panose="02020603050405020304" pitchFamily="18" charset="0"/>
                        </a:rPr>
                        <a:t>A Proposed Framework for Crop Yield Prediction Using Hybrid Feature Selection Approach and Optimized Machine Learning (2024)</a:t>
                      </a:r>
                    </a:p>
                  </a:txBody>
                  <a:tcPr marL="27893" marR="27893" marT="13947" marB="13947" anchor="ctr"/>
                </a:tc>
                <a:tc>
                  <a:txBody>
                    <a:bodyPr/>
                    <a:lstStyle/>
                    <a:p>
                      <a:pPr algn="l">
                        <a:buNone/>
                      </a:pPr>
                      <a:r>
                        <a:rPr lang="en-US" sz="1200">
                          <a:latin typeface="Times New Roman" panose="02020603050405020304" pitchFamily="18" charset="0"/>
                          <a:cs typeface="Times New Roman" panose="02020603050405020304" pitchFamily="18" charset="0"/>
                        </a:rPr>
                        <a:t>Mahmoud Abdel-salam, Neeraj Kumar, Shubham Mahajan</a:t>
                      </a:r>
                    </a:p>
                  </a:txBody>
                  <a:tcPr marL="27893" marR="27893" marT="13947" marB="13947" anchor="ctr"/>
                </a:tc>
                <a:tc>
                  <a:txBody>
                    <a:bodyPr/>
                    <a:lstStyle/>
                    <a:p>
                      <a:pPr algn="l">
                        <a:buNone/>
                      </a:pPr>
                      <a:r>
                        <a:rPr lang="en-US" sz="1200" dirty="0">
                          <a:latin typeface="Times New Roman" panose="02020603050405020304" pitchFamily="18" charset="0"/>
                          <a:cs typeface="Times New Roman" panose="02020603050405020304" pitchFamily="18" charset="0"/>
                        </a:rPr>
                        <a:t>Uses hybrid feature selection and optimized SVR, making the framework relatively complex and dependent on hyperparameter optimization.</a:t>
                      </a:r>
                    </a:p>
                  </a:txBody>
                  <a:tcPr marL="27893" marR="27893" marT="13947" marB="13947" anchor="ctr"/>
                </a:tc>
                <a:tc>
                  <a:txBody>
                    <a:bodyPr/>
                    <a:lstStyle/>
                    <a:p>
                      <a:pPr algn="l">
                        <a:buNone/>
                      </a:pPr>
                      <a:r>
                        <a:rPr lang="en-US" sz="1200">
                          <a:latin typeface="Times New Roman" panose="02020603050405020304" pitchFamily="18" charset="0"/>
                          <a:cs typeface="Times New Roman" panose="02020603050405020304" pitchFamily="18" charset="0"/>
                        </a:rPr>
                        <a:t>Develop a simpler and more interpretable ML pipeline by comparing standard regression models.</a:t>
                      </a:r>
                    </a:p>
                  </a:txBody>
                  <a:tcPr marL="27893" marR="27893" marT="13947" marB="13947" anchor="ctr"/>
                </a:tc>
                <a:tc>
                  <a:txBody>
                    <a:bodyPr/>
                    <a:lstStyle/>
                    <a:p>
                      <a:pPr algn="l">
                        <a:buNone/>
                      </a:pPr>
                      <a:r>
                        <a:rPr lang="en-US" sz="1200" dirty="0">
                          <a:latin typeface="Times New Roman" panose="02020603050405020304" pitchFamily="18" charset="0"/>
                          <a:cs typeface="Times New Roman" panose="02020603050405020304" pitchFamily="18" charset="0"/>
                          <a:hlinkClick r:id="rId3"/>
                        </a:rPr>
                        <a:t>https://link.springer.com/article/10.1007/s00521-024-10226-x</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4264813557"/>
                  </a:ext>
                </a:extLst>
              </a:tr>
              <a:tr h="1020702">
                <a:tc>
                  <a:txBody>
                    <a:bodyPr/>
                    <a:lstStyle/>
                    <a:p>
                      <a:pPr algn="ctr">
                        <a:buNone/>
                      </a:pPr>
                      <a:r>
                        <a:rPr lang="en-US" sz="1200" b="1" dirty="0">
                          <a:latin typeface="Times New Roman" panose="02020603050405020304" pitchFamily="18" charset="0"/>
                          <a:cs typeface="Times New Roman" panose="02020603050405020304" pitchFamily="18" charset="0"/>
                        </a:rPr>
                        <a:t>2</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Boosting Enabled Efficient Machine Learning Technique for Accurate Prediction of Crop Yield Towards Precision Agriculture (2024)</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O. Sri Nagesh et al.</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Focuses heavily on boosting-based techniques, while model selection and practical comparison of simpler regression approaches can be further explored.</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Compare multiple conventional ML regression models and select the most suitable model based on evaluation metrics.</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4"/>
                        </a:rPr>
                        <a:t>https://link.springer.com/article/10.1007/s43621-024-00254-x</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2108963515"/>
                  </a:ext>
                </a:extLst>
              </a:tr>
              <a:tr h="1093779">
                <a:tc>
                  <a:txBody>
                    <a:bodyPr/>
                    <a:lstStyle/>
                    <a:p>
                      <a:pPr algn="ctr">
                        <a:buNone/>
                      </a:pPr>
                      <a:r>
                        <a:rPr lang="en-US" sz="1200" b="1" dirty="0">
                          <a:latin typeface="Times New Roman" panose="02020603050405020304" pitchFamily="18" charset="0"/>
                          <a:cs typeface="Times New Roman" panose="02020603050405020304" pitchFamily="18" charset="0"/>
                        </a:rPr>
                        <a:t>3</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Accurate Wheat Yield Prediction Using Machine Learning and Climate-NDVI Data Fusion (2024)</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Muhammad Ashfaq, Imran Khan, Abdulrahman Alzahrani, Muhammad Usman Tariq, Humera Khan, Anwar Ghani</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Requires integration of climate, satellite, soil and spatial datasets, increasing data and implementation complexity.</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Use a single integrated agricultural dataset containing important crop and environmental attributes for easier implementation.</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5"/>
                        </a:rPr>
                        <a:t>https://ieeexplore.ieee.org/document/10471549</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2332560651"/>
                  </a:ext>
                </a:extLst>
              </a:tr>
              <a:tr h="1271556">
                <a:tc>
                  <a:txBody>
                    <a:bodyPr/>
                    <a:lstStyle/>
                    <a:p>
                      <a:pPr algn="ctr">
                        <a:buNone/>
                      </a:pPr>
                      <a:r>
                        <a:rPr lang="en-US" sz="1200" b="1" dirty="0">
                          <a:latin typeface="Times New Roman" panose="02020603050405020304" pitchFamily="18" charset="0"/>
                          <a:cs typeface="Times New Roman" panose="02020603050405020304" pitchFamily="18" charset="0"/>
                        </a:rPr>
                        <a:t>4</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Predicting Potato Crop Yield with Machine Learning and Deep Learning for Sustainable Agriculture (2024/2025)</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El-Sayed M. El-Kenawy, Amel Ali Alhussan, Nima Khodadadi, Seyedali Mirjalili et al.</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Evaluates many ML and deep-learning architectures, which can require greater computational resources and larger datasets.</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Focus on practical ML models such as Linear Regression, Decision Tree and Random Forest suitable for a manageable agricultural prediction system.</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6"/>
                        </a:rPr>
                        <a:t>https://link.springer.com/article/10.1007/s11540-024-09753-w</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1923360928"/>
                  </a:ext>
                </a:extLst>
              </a:tr>
              <a:tr h="1014455">
                <a:tc>
                  <a:txBody>
                    <a:bodyPr/>
                    <a:lstStyle/>
                    <a:p>
                      <a:pPr algn="ctr">
                        <a:buNone/>
                      </a:pPr>
                      <a:r>
                        <a:rPr lang="en-US" sz="1200" b="1" dirty="0">
                          <a:latin typeface="Times New Roman" panose="02020603050405020304" pitchFamily="18" charset="0"/>
                          <a:cs typeface="Times New Roman" panose="02020603050405020304" pitchFamily="18" charset="0"/>
                        </a:rPr>
                        <a:t>5</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Comparative Analysis of Machine Learning and Statistical Models for Cotton Yield Prediction in Major Growing Districts of Karnataka, India (2025)</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M. N. Thimmegowda, M. H. Manjunatha, H. Lingaraj et al.</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Focuses specifically on cotton and selected districts, limiting generalization to other crops and regions.</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Develop a more general crop-yield prediction approach applicable to different crops and regions.</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7"/>
                        </a:rPr>
                        <a:t>https://link.springer.com/article/10.1186/s42397-024-00208-8</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3802625312"/>
                  </a:ext>
                </a:extLst>
              </a:tr>
            </a:tbl>
          </a:graphicData>
        </a:graphic>
      </p:graphicFrame>
    </p:spTree>
    <p:extLst>
      <p:ext uri="{BB962C8B-B14F-4D97-AF65-F5344CB8AC3E}">
        <p14:creationId xmlns:p14="http://schemas.microsoft.com/office/powerpoint/2010/main" val="400463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BFE71-3828-38F5-2798-3FED9AF47D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82C7F71-7B73-0854-1779-765B007E7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2" name="TextBox 1">
            <a:extLst>
              <a:ext uri="{FF2B5EF4-FFF2-40B4-BE49-F238E27FC236}">
                <a16:creationId xmlns:a16="http://schemas.microsoft.com/office/drawing/2014/main" id="{A07B1CA2-329E-3C6F-96F9-14E964DB8506}"/>
              </a:ext>
            </a:extLst>
          </p:cNvPr>
          <p:cNvSpPr txBox="1"/>
          <p:nvPr/>
        </p:nvSpPr>
        <p:spPr>
          <a:xfrm>
            <a:off x="5395317" y="413075"/>
            <a:ext cx="2625212"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Methodology</a:t>
            </a:r>
          </a:p>
        </p:txBody>
      </p:sp>
      <p:sp>
        <p:nvSpPr>
          <p:cNvPr id="7" name="TextBox 6">
            <a:extLst>
              <a:ext uri="{FF2B5EF4-FFF2-40B4-BE49-F238E27FC236}">
                <a16:creationId xmlns:a16="http://schemas.microsoft.com/office/drawing/2014/main" id="{8CC1697D-1938-2B02-B8FE-B80F8383BC0F}"/>
              </a:ext>
            </a:extLst>
          </p:cNvPr>
          <p:cNvSpPr txBox="1"/>
          <p:nvPr/>
        </p:nvSpPr>
        <p:spPr>
          <a:xfrm>
            <a:off x="2037600" y="1366612"/>
            <a:ext cx="9340646" cy="507831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1. Data Collection</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crop, region, rainfall, temperature &amp; fertilizer data. </a:t>
            </a: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historical yield as the target. </a:t>
            </a:r>
          </a:p>
          <a:p>
            <a:pPr>
              <a:buNone/>
            </a:pPr>
            <a:r>
              <a:rPr lang="en-US" b="1" dirty="0">
                <a:latin typeface="Times New Roman" panose="02020603050405020304" pitchFamily="18" charset="0"/>
                <a:cs typeface="Times New Roman" panose="02020603050405020304" pitchFamily="18" charset="0"/>
              </a:rPr>
              <a:t>2. Data Preprocessing</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 missing/duplicate data. </a:t>
            </a:r>
          </a:p>
          <a:p>
            <a:pPr marL="342900" lvl="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 irrelevant attributes and encode categorical data. </a:t>
            </a:r>
          </a:p>
          <a:p>
            <a:pPr>
              <a:buNone/>
            </a:pPr>
            <a:r>
              <a:rPr lang="en-US" b="1" dirty="0">
                <a:latin typeface="Times New Roman" panose="02020603050405020304" pitchFamily="18" charset="0"/>
                <a:cs typeface="Times New Roman" panose="02020603050405020304" pitchFamily="18" charset="0"/>
              </a:rPr>
              <a:t>3. Exploratory Data Analysis</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distributions, patterns and feature–yield relationships. </a:t>
            </a:r>
          </a:p>
          <a:p>
            <a:pPr>
              <a:buNone/>
            </a:pPr>
            <a:r>
              <a:rPr lang="en-US" b="1" dirty="0">
                <a:latin typeface="Times New Roman" panose="02020603050405020304" pitchFamily="18" charset="0"/>
                <a:cs typeface="Times New Roman" panose="02020603050405020304" pitchFamily="18" charset="0"/>
              </a:rPr>
              <a:t>4. Feature Engineering &amp; Selection</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relevant features and select important predictors. </a:t>
            </a:r>
          </a:p>
          <a:p>
            <a:pPr>
              <a:buNone/>
            </a:pPr>
            <a:r>
              <a:rPr lang="en-US" b="1" dirty="0">
                <a:latin typeface="Times New Roman" panose="02020603050405020304" pitchFamily="18" charset="0"/>
                <a:cs typeface="Times New Roman" panose="02020603050405020304" pitchFamily="18" charset="0"/>
              </a:rPr>
              <a:t>5. Model Development</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 </a:t>
            </a:r>
            <a:r>
              <a:rPr lang="en-US" b="1" dirty="0">
                <a:latin typeface="Times New Roman" panose="02020603050405020304" pitchFamily="18" charset="0"/>
                <a:cs typeface="Times New Roman" panose="02020603050405020304" pitchFamily="18" charset="0"/>
              </a:rPr>
              <a:t>Linear Regression, Decision Tree &amp; Random Forest</a:t>
            </a:r>
            <a:r>
              <a:rPr lang="en-US" dirty="0">
                <a:latin typeface="Times New Roman" panose="02020603050405020304" pitchFamily="18" charset="0"/>
                <a:cs typeface="Times New Roman" panose="02020603050405020304" pitchFamily="18" charset="0"/>
              </a:rPr>
              <a:t> models. </a:t>
            </a:r>
          </a:p>
          <a:p>
            <a:pPr>
              <a:buNone/>
            </a:pPr>
            <a:r>
              <a:rPr lang="en-US" b="1" dirty="0">
                <a:latin typeface="Times New Roman" panose="02020603050405020304" pitchFamily="18" charset="0"/>
                <a:cs typeface="Times New Roman" panose="02020603050405020304" pitchFamily="18" charset="0"/>
              </a:rPr>
              <a:t>6. Model Evaluation</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 models using </a:t>
            </a:r>
            <a:r>
              <a:rPr lang="en-US" b="1" dirty="0">
                <a:latin typeface="Times New Roman" panose="02020603050405020304" pitchFamily="18" charset="0"/>
                <a:cs typeface="Times New Roman" panose="02020603050405020304" pitchFamily="18" charset="0"/>
              </a:rPr>
              <a:t>MAE, RMSE &amp; R²</a:t>
            </a:r>
            <a:r>
              <a:rPr lang="en-US"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 the best-performing model. </a:t>
            </a:r>
          </a:p>
          <a:p>
            <a:pPr>
              <a:buNone/>
            </a:pPr>
            <a:r>
              <a:rPr lang="en-US" b="1" dirty="0">
                <a:latin typeface="Times New Roman" panose="02020603050405020304" pitchFamily="18" charset="0"/>
                <a:cs typeface="Times New Roman" panose="02020603050405020304" pitchFamily="18" charset="0"/>
              </a:rPr>
              <a:t>7. Prediction &amp; Dashboard</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 crop yield using the selected model. </a:t>
            </a: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 results through an interactive </a:t>
            </a:r>
            <a:r>
              <a:rPr lang="en-US" b="1" dirty="0" err="1">
                <a:latin typeface="Times New Roman" panose="02020603050405020304" pitchFamily="18" charset="0"/>
                <a:cs typeface="Times New Roman" panose="02020603050405020304" pitchFamily="18" charset="0"/>
              </a:rPr>
              <a:t>Streamlit</a:t>
            </a:r>
            <a:r>
              <a:rPr lang="en-US" b="1" dirty="0">
                <a:latin typeface="Times New Roman" panose="02020603050405020304" pitchFamily="18" charset="0"/>
                <a:cs typeface="Times New Roman" panose="02020603050405020304" pitchFamily="18" charset="0"/>
              </a:rPr>
              <a:t> dashboard</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91453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A001B-FF37-1F4C-2FD1-7575D91388F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31C2C84-5405-4EC7-5B1F-72405FAD4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14" name="TextBox 13">
            <a:extLst>
              <a:ext uri="{FF2B5EF4-FFF2-40B4-BE49-F238E27FC236}">
                <a16:creationId xmlns:a16="http://schemas.microsoft.com/office/drawing/2014/main" id="{F071F6B0-0029-286E-4FC3-47BD408B8A2C}"/>
              </a:ext>
            </a:extLst>
          </p:cNvPr>
          <p:cNvSpPr txBox="1"/>
          <p:nvPr/>
        </p:nvSpPr>
        <p:spPr>
          <a:xfrm>
            <a:off x="4257367" y="747212"/>
            <a:ext cx="367726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Expected Outcomes</a:t>
            </a:r>
          </a:p>
        </p:txBody>
      </p:sp>
      <p:sp>
        <p:nvSpPr>
          <p:cNvPr id="16" name="TextBox 15">
            <a:extLst>
              <a:ext uri="{FF2B5EF4-FFF2-40B4-BE49-F238E27FC236}">
                <a16:creationId xmlns:a16="http://schemas.microsoft.com/office/drawing/2014/main" id="{6FDADDCE-9E32-E60C-3EAB-9EEE418740C6}"/>
              </a:ext>
            </a:extLst>
          </p:cNvPr>
          <p:cNvSpPr txBox="1"/>
          <p:nvPr/>
        </p:nvSpPr>
        <p:spPr>
          <a:xfrm>
            <a:off x="1391263" y="1534791"/>
            <a:ext cx="9409471" cy="419755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 clean and structured agricultural dataset</a:t>
            </a:r>
            <a:r>
              <a:rPr lang="en-US" dirty="0">
                <a:latin typeface="Times New Roman" panose="02020603050405020304" pitchFamily="18" charset="0"/>
                <a:cs typeface="Times New Roman" panose="02020603050405020304" pitchFamily="18" charset="0"/>
              </a:rPr>
              <a:t> containing relevant crop, environmental, and agricultural attributes suitable for machine learning.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Identification of the key factors influencing crop yield</a:t>
            </a:r>
            <a:r>
              <a:rPr lang="en-US" dirty="0">
                <a:latin typeface="Times New Roman" panose="02020603050405020304" pitchFamily="18" charset="0"/>
                <a:cs typeface="Times New Roman" panose="02020603050405020304" pitchFamily="18" charset="0"/>
              </a:rPr>
              <a:t> through exploratory data analysis and feature selection.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 reliable crop-yield prediction model</a:t>
            </a:r>
            <a:r>
              <a:rPr lang="en-US" dirty="0">
                <a:latin typeface="Times New Roman" panose="02020603050405020304" pitchFamily="18" charset="0"/>
                <a:cs typeface="Times New Roman" panose="02020603050405020304" pitchFamily="18" charset="0"/>
              </a:rPr>
              <a:t> developed by comparing multiple machine-learning regression algorithms and selecting the best-performing one.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Quantitative evaluation of prediction performance</a:t>
            </a:r>
            <a:r>
              <a:rPr lang="en-US" dirty="0">
                <a:latin typeface="Times New Roman" panose="02020603050405020304" pitchFamily="18" charset="0"/>
                <a:cs typeface="Times New Roman" panose="02020603050405020304" pitchFamily="18" charset="0"/>
              </a:rPr>
              <a:t> using MAE, RMSE, and R², providing a clear basis for model selection.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An interactive dashboard</a:t>
            </a:r>
            <a:r>
              <a:rPr lang="en-US" dirty="0">
                <a:latin typeface="Times New Roman" panose="02020603050405020304" pitchFamily="18" charset="0"/>
                <a:cs typeface="Times New Roman" panose="02020603050405020304" pitchFamily="18" charset="0"/>
              </a:rPr>
              <a:t> that presents predicted crop yield and relevant agricultural insights in an easy-to-understand manner.</a:t>
            </a:r>
          </a:p>
        </p:txBody>
      </p:sp>
    </p:spTree>
    <p:extLst>
      <p:ext uri="{BB962C8B-B14F-4D97-AF65-F5344CB8AC3E}">
        <p14:creationId xmlns:p14="http://schemas.microsoft.com/office/powerpoint/2010/main" val="937208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23D8C-EF50-B1A3-7F80-439AB47DFB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FCD1BEB-1BEE-54FF-167F-E1B8918C1F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2" name="TextBox 1">
            <a:extLst>
              <a:ext uri="{FF2B5EF4-FFF2-40B4-BE49-F238E27FC236}">
                <a16:creationId xmlns:a16="http://schemas.microsoft.com/office/drawing/2014/main" id="{D436D586-B98D-80FF-53AF-9289F0C160D7}"/>
              </a:ext>
            </a:extLst>
          </p:cNvPr>
          <p:cNvSpPr txBox="1"/>
          <p:nvPr/>
        </p:nvSpPr>
        <p:spPr>
          <a:xfrm>
            <a:off x="4886632" y="413075"/>
            <a:ext cx="3451123"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Technologies Used</a:t>
            </a:r>
          </a:p>
        </p:txBody>
      </p:sp>
      <p:sp>
        <p:nvSpPr>
          <p:cNvPr id="7" name="TextBox 6">
            <a:extLst>
              <a:ext uri="{FF2B5EF4-FFF2-40B4-BE49-F238E27FC236}">
                <a16:creationId xmlns:a16="http://schemas.microsoft.com/office/drawing/2014/main" id="{53D98B39-1E6D-695C-097E-60F5A01911B7}"/>
              </a:ext>
            </a:extLst>
          </p:cNvPr>
          <p:cNvSpPr txBox="1"/>
          <p:nvPr/>
        </p:nvSpPr>
        <p:spPr>
          <a:xfrm>
            <a:off x="2290915" y="1440141"/>
            <a:ext cx="8642555" cy="4653646"/>
          </a:xfrm>
          <a:prstGeom prst="rect">
            <a:avLst/>
          </a:prstGeom>
          <a:noFill/>
        </p:spPr>
        <p:txBody>
          <a:bodyPr wrap="square">
            <a:spAutoFit/>
          </a:bodyPr>
          <a:lstStyle/>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Programming Language:</a:t>
            </a:r>
            <a:r>
              <a:rPr lang="en-US" sz="2000" dirty="0">
                <a:latin typeface="Times New Roman" panose="02020603050405020304" pitchFamily="18" charset="0"/>
                <a:cs typeface="Times New Roman" panose="02020603050405020304" pitchFamily="18" charset="0"/>
              </a:rPr>
              <a:t> Python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Development Environment:</a:t>
            </a:r>
            <a:r>
              <a:rPr lang="en-US" sz="2000" dirty="0">
                <a:latin typeface="Times New Roman" panose="02020603050405020304" pitchFamily="18" charset="0"/>
                <a:cs typeface="Times New Roman" panose="02020603050405020304" pitchFamily="18" charset="0"/>
              </a:rPr>
              <a:t> Jupyter Notebook / Google </a:t>
            </a:r>
            <a:r>
              <a:rPr lang="en-US" sz="2000" dirty="0" err="1">
                <a:latin typeface="Times New Roman" panose="02020603050405020304" pitchFamily="18" charset="0"/>
                <a:cs typeface="Times New Roman" panose="02020603050405020304" pitchFamily="18" charset="0"/>
              </a:rPr>
              <a:t>Colab</a:t>
            </a:r>
            <a:r>
              <a:rPr lang="en-US" sz="2000" dirty="0">
                <a:latin typeface="Times New Roman" panose="02020603050405020304" pitchFamily="18" charset="0"/>
                <a:cs typeface="Times New Roman" panose="02020603050405020304" pitchFamily="18" charset="0"/>
              </a:rPr>
              <a:t>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Processing:</a:t>
            </a:r>
            <a:r>
              <a:rPr lang="en-US" sz="2000" dirty="0">
                <a:latin typeface="Times New Roman" panose="02020603050405020304" pitchFamily="18" charset="0"/>
                <a:cs typeface="Times New Roman" panose="02020603050405020304" pitchFamily="18" charset="0"/>
              </a:rPr>
              <a:t> Pandas, NumPy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Visualization:</a:t>
            </a:r>
            <a:r>
              <a:rPr lang="en-US" sz="2000" dirty="0">
                <a:latin typeface="Times New Roman" panose="02020603050405020304" pitchFamily="18" charset="0"/>
                <a:cs typeface="Times New Roman" panose="02020603050405020304" pitchFamily="18" charset="0"/>
              </a:rPr>
              <a:t> Matplotlib, Seaborn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Machine Learning:</a:t>
            </a:r>
            <a:r>
              <a:rPr lang="en-US" sz="2000" dirty="0">
                <a:latin typeface="Times New Roman" panose="02020603050405020304" pitchFamily="18" charset="0"/>
                <a:cs typeface="Times New Roman" panose="02020603050405020304" pitchFamily="18" charset="0"/>
              </a:rPr>
              <a:t> Scikit-learn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ML Models:</a:t>
            </a:r>
            <a:r>
              <a:rPr lang="en-US" sz="2000" dirty="0">
                <a:latin typeface="Times New Roman" panose="02020603050405020304" pitchFamily="18" charset="0"/>
                <a:cs typeface="Times New Roman" panose="02020603050405020304" pitchFamily="18" charset="0"/>
              </a:rPr>
              <a:t> Linear Regression, Decision Tree Regressor, Random Forest Regressor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Model Evaluation:</a:t>
            </a:r>
            <a:r>
              <a:rPr lang="en-US" sz="2000" dirty="0">
                <a:latin typeface="Times New Roman" panose="02020603050405020304" pitchFamily="18" charset="0"/>
                <a:cs typeface="Times New Roman" panose="02020603050405020304" pitchFamily="18" charset="0"/>
              </a:rPr>
              <a:t> MAE, RMSE, R² Score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Dashboard: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Dataset Source:</a:t>
            </a:r>
            <a:r>
              <a:rPr lang="en-US" sz="2000" dirty="0">
                <a:latin typeface="Times New Roman" panose="02020603050405020304" pitchFamily="18" charset="0"/>
                <a:cs typeface="Times New Roman" panose="02020603050405020304" pitchFamily="18" charset="0"/>
              </a:rPr>
              <a:t> Kaggle</a:t>
            </a:r>
          </a:p>
        </p:txBody>
      </p:sp>
    </p:spTree>
    <p:extLst>
      <p:ext uri="{BB962C8B-B14F-4D97-AF65-F5344CB8AC3E}">
        <p14:creationId xmlns:p14="http://schemas.microsoft.com/office/powerpoint/2010/main" val="1606726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900C-06DD-CB6A-E8ED-54FD0CA7EE3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2E29986-75EB-5833-9B27-B1A3B4855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13" name="TextBox 12">
            <a:extLst>
              <a:ext uri="{FF2B5EF4-FFF2-40B4-BE49-F238E27FC236}">
                <a16:creationId xmlns:a16="http://schemas.microsoft.com/office/drawing/2014/main" id="{EA330F5B-9CF2-E0A8-FB2A-BFB1965A80FA}"/>
              </a:ext>
            </a:extLst>
          </p:cNvPr>
          <p:cNvSpPr txBox="1"/>
          <p:nvPr/>
        </p:nvSpPr>
        <p:spPr>
          <a:xfrm>
            <a:off x="4011561" y="2517058"/>
            <a:ext cx="4168878" cy="1754326"/>
          </a:xfrm>
          <a:prstGeom prst="rect">
            <a:avLst/>
          </a:prstGeom>
          <a:noFill/>
        </p:spPr>
        <p:txBody>
          <a:bodyPr wrap="square" rtlCol="0">
            <a:spAutoFit/>
          </a:bodyPr>
          <a:lstStyle/>
          <a:p>
            <a:pPr algn="ctr"/>
            <a:r>
              <a:rPr lang="en-US" sz="5400" b="1" dirty="0">
                <a:latin typeface="Times New Roman" panose="02020603050405020304" pitchFamily="18" charset="0"/>
                <a:cs typeface="Times New Roman" panose="02020603050405020304" pitchFamily="18" charset="0"/>
              </a:rPr>
              <a:t>THANK </a:t>
            </a:r>
          </a:p>
          <a:p>
            <a:pPr algn="ctr"/>
            <a:r>
              <a:rPr lang="en-US" sz="5400" b="1" dirty="0">
                <a:latin typeface="Times New Roman" panose="02020603050405020304" pitchFamily="18" charset="0"/>
                <a:cs typeface="Times New Roman" panose="02020603050405020304" pitchFamily="18" charset="0"/>
              </a:rPr>
              <a:t>YOU </a:t>
            </a:r>
          </a:p>
        </p:txBody>
      </p:sp>
    </p:spTree>
    <p:extLst>
      <p:ext uri="{BB962C8B-B14F-4D97-AF65-F5344CB8AC3E}">
        <p14:creationId xmlns:p14="http://schemas.microsoft.com/office/powerpoint/2010/main" val="244576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900</Words>
  <Application>Microsoft Office PowerPoint</Application>
  <PresentationFormat>Widescreen</PresentationFormat>
  <Paragraphs>89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Sharmila Pathi</dc:creator>
  <cp:lastModifiedBy>Sharmila Pathi</cp:lastModifiedBy>
  <cp:revision>1</cp:revision>
  <dcterms:created xsi:type="dcterms:W3CDTF">2026-09-09T08:21:04Z</dcterms:created>
  <dcterms:modified xsi:type="dcterms:W3CDTF">2026-09-15T03:28:56Z</dcterms:modified>
</cp:coreProperties>
</file>